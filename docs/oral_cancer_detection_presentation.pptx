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hith R C" userId="e7d36eb86e1e6c35" providerId="LiveId" clId="{57DA2002-ED93-4508-83C4-DF7C012D4A3D}"/>
    <pc:docChg chg="modSld">
      <pc:chgData name="Lohith R C" userId="e7d36eb86e1e6c35" providerId="LiveId" clId="{57DA2002-ED93-4508-83C4-DF7C012D4A3D}" dt="2026-10-28T14:57:30.444" v="0" actId="15"/>
      <pc:docMkLst>
        <pc:docMk/>
      </pc:docMkLst>
      <pc:sldChg chg="modSp mod">
        <pc:chgData name="Lohith R C" userId="e7d36eb86e1e6c35" providerId="LiveId" clId="{57DA2002-ED93-4508-83C4-DF7C012D4A3D}" dt="2026-10-28T14:57:30.444" v="0" actId="15"/>
        <pc:sldMkLst>
          <pc:docMk/>
          <pc:sldMk cId="0" sldId="256"/>
        </pc:sldMkLst>
        <pc:spChg chg="mod">
          <ac:chgData name="Lohith R C" userId="e7d36eb86e1e6c35" providerId="LiveId" clId="{57DA2002-ED93-4508-83C4-DF7C012D4A3D}" dt="2026-10-28T14:57:30.444" v="0" actId="15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9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everyone. Today we present our major project: A Clinically Calibrated, Multimodal Deep Learning Framework for Oral Squamous Cell Carcinoma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60A5FA"/>
                </a:solidFill>
                <a:latin typeface="Calibri"/>
              </a:defRPr>
            </a:pPr>
            <a:r>
              <a:t>FINAL YEAR MAJOR PROJECT PRESENTATION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Clinically Calibrated, Multimodal Deep Learning Framework for Oral Squamous Cell Carcinoma (OSCC) Triage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Integrating Epistemic Uncertainty Quantification, Explainable Grad-CAM++ Concordance &amp; HL7 FHIR Interoperability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493776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</a:defRPr>
            </a:pPr>
            <a:r>
              <a:t>PRESENTED BY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  Lohith R C   (1KE21CS045)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  Rakshith Y B   (1KE21CS074)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  Keerthi A   (1KE21CS039)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02920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3657600"/>
            <a:ext cx="44805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</a:defRPr>
            </a:pPr>
            <a:r>
              <a:rPr dirty="0"/>
              <a:t>UNDER THE GUIDANCE OF</a:t>
            </a:r>
          </a:p>
          <a:p>
            <a:pPr lvl="1">
              <a:defRPr sz="1400" b="1">
                <a:solidFill>
                  <a:srgbClr val="FFFFFF"/>
                </a:solidFill>
              </a:defRPr>
            </a:pPr>
            <a:r>
              <a:rPr dirty="0"/>
              <a:t>Prof. Aishwarya S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rPr dirty="0"/>
              <a:t>Assistant Professor, Dept. of Computer Science &amp; Engineering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dirty="0"/>
              <a:t>Department of Computer Science and Engineering</a:t>
            </a:r>
            <a:br>
              <a:rPr dirty="0"/>
            </a:br>
            <a:r>
              <a:rPr dirty="0"/>
              <a:t>Kalpataru Institute of Technology, </a:t>
            </a:r>
            <a:r>
              <a:rPr dirty="0" err="1"/>
              <a:t>Tiptur</a:t>
            </a:r>
            <a:r>
              <a:rPr dirty="0"/>
              <a:t> - 572202</a:t>
            </a:r>
            <a:br>
              <a:rPr dirty="0"/>
            </a:br>
            <a:r>
              <a:rPr dirty="0"/>
              <a:t>(Affiliated to Visvesvaraya Technological University, Belagavi)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Executive Abstract &amp; Core Breakthrough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Clinical Urgency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Oral Squamous Cell Carcinoma (OSCC) represents &gt;90% of oral malignancies. Late detection drops 5-year survival from &gt;84% to under 35% in LMICs like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AI Translation Barriers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Optical artifacts (saliva glare, lighting variance), overconfident predictions on borderline lesions, black-box opacity, and contextual blindness to risk habits.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Synergistic Methodology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1) Saliva glare &amp; Reinhard Lab color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2) 4-CNN feature ensemble (5,120-d latent vector)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3) Monte Carlo Dropout epistemic uncertainty (T=15)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4) Explainable Grad-CAM++ spatial concordance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Verified Performance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Multicenter cohort of N=1,200 clinical images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99.92% Accuracy, 99.76% Sensitivity, 100% Specificity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AUROC 1.0000 (DeLong p &lt; 0.001 vs standalone CNNs)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INT8 ONNX CPU execution: 108ms per case + HL7 FHIR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Introduction &amp; Clinical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Epidemiological Crisis in India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Global Burden: Oral cancer is the 6th most prevalent anatomical malignancy, with &gt;377,000 incident cases and 177,000 annual deaths globally.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Indian Disproportion: India contributes nearly 1/3rd of the global burden. OSCC represents 30%–40% of all cancer diagnoses in the country.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Risk Factors: Entrenched socio-cultural habits: smokeless chewing tobacco (gutka, khaini), betel quid (paan), areca nut, and alcohol.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Survival Disparity: Early diagnosis (Stage I) yields &gt;84% 5-year survival, but 60%–80% of patients present at Stage III/IV where survival collapses to 20%–35%.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Why Early Detection Fails in Practice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Diagnostic Ambiguity: Early dysplastic lesions closely mimic benign inflammation (aphthous ulcers, traumatic keratosis), misleading general dentists.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Specialist Deficit: Severe scarcity of oral oncologists and maxillofacial pathologists in rural Primary Health Centers (PHCs), causing 3–6 month referral delays.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Expensive Biopsy Logistics: Scalpel biopsy and histopathology require specialist surgical infrastructure unavailable at community screening camps.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Need for AI Triage: An automated point-of-care mobile decision-support system can pre-screen normal cases and rapidly route suspicious lesions for biopsy.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Survey &amp; Research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 /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Reported Findings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Critical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Welikala et al.</a:t>
                      </a:r>
                      <a:br/>
                      <a:r>
                        <a:t>(IEEE Access, 2020)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ResNet-50 &amp; VGG-16 on 1,200 photographic lesions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Achieved 0.87 AUROC for malignant classification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Degrades under consumer phone glare; lacks uncertainty quantification.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Jubair et al.</a:t>
                      </a:r>
                      <a:br/>
                      <a:r>
                        <a:t>(Comput. Biol. Med.,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Lightweight CNN for smartphone edge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90.9% accuracy in clinical oral photographs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false positive rate on benign lichen planus; no clinical risk factors integrated.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Camalan et al.</a:t>
                      </a:r>
                      <a:br/>
                      <a:r>
                        <a:t>(J. Biomed. Opt., 2021)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EfficientNet across multi-center UK/India cohorts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Demonstrated domain shift across different camera sensors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Accuracy dropped by 14% due to sensor white-balance and mucosal pigmentation variations.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Song et al.</a:t>
                      </a:r>
                      <a:br/>
                      <a:r>
                        <a:t>(Biomed. Opt. Exp.,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Smartphone autofluorescence imaging with 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92.4% sensitivity in discriminating dysplasia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Requires expensive specialized optical filters; impractical for frontline rural screening.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Identified Research Gap: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No prior system concurrently combined optical color normalization, multi-backbone feature ensembling, epistemic uncertainty safety gating, explainable lesion concordance auditing, and multimodal epidemiological risk prior fusion into a real-time CPU-deployable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Proposed System Architecture &amp; Workflow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71600"/>
            <a:ext cx="414497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Multi-Tier Processing Pipeline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</a:defRPr>
            </a:pPr>
            <a:r>
              <a:t>1. Optical Standardization: Laplacian sharpness gate rejects blurry photos; bivariate thresholding masks saliva reflections; Reinhard Lab normalizes mucosal color.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</a:defRPr>
            </a:pPr>
            <a:r>
              <a:t>2. Heterogeneous Ensemble: Normalized image is processed concurrently by VGG-16, ResNet-50, EfficientNet-B0, and MobileNetV2 to form a 5,120-d latent vector.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</a:defRPr>
            </a:pPr>
            <a:r>
              <a:t>3. Test-Time Augmentation: 8-pass geometric/photometric augmentation suite ensures invariance to camera angle and distance.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</a:defRPr>
            </a:pPr>
            <a:r>
              <a:t>4. Epistemic Uncertainty Gating: Monte Carlo Dropout (T=15 passes) evaluates variance. Cases with variance &gt; 0.015 route to human specialist.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</a:defRPr>
            </a:pPr>
            <a:r>
              <a:t>5. Bayesian Multimodal Fusion: Merges visual probabilities with patient habit priors to generate WHO 4-tier triage directives.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Optical Preprocessing &amp; Glare Suppression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1. Laplacian Sharpness Gating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Clinicians capture photos with mobile phones under non-standard lighting.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Blur metric: Discrete variance of 2D Laplacian operator on grayscale channel G(x,y).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Threshold: Reject if variance &lt; 50.0.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Ensures out-of-focus or motion-blurred captures never corrupt downstream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575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6455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2. Saliva Glare Suppression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Intraoral moisture causes specular highlights with near-saturation luminance &amp; low chroma.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Bivariate Masking: Brightness &gt;= 238 and Saturation &lt;= 0.22.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Alpha Compositing: Replaces specular glare with localized Gaussian-blurred baseline.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Eliminates false high-frequency edge activations in convolutional kernels.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563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851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3. Reinhard L*a*b* Color Transfer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Linearizes sRGB and transforms into perceptual CIE L*a*b* color space.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Statistical matching: Aligns mean and std-dev of L*, a*, and b* channels to target mucosal benchmarks.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Calibrated against N=300 healthy mucosal biopsy-confirmed standards.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Completely removes camera white-balance drift and flash-induced tint.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Multi-Backbone 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VGG-16 Backbone  [512 Dimensions]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Extracts micro-textural keratosis, fine vascular arborization, and mucosal erythema via stacked 3x3 convolutions.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830" y="137160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5430" y="153619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ResNet-50 Backbone  [2,048 Dimensions]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Residual bottleneck skips extract macroscopic epithelial architecture, irregular lesion margins, and ulcer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63931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EfficientNet-B0  [1,280 Dimensions]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Compound-scaled inverted bottlenecks capture multi-resolution receptive fields balancing local and global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830" y="347472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5430" y="363931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MobileNetV2  [1,280 Dimensions]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Depthwise separable convolutions provide lightweight, rapid boundary detection across mucosal 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Unified Latent Representation: 5,120-Dimensional Concatenated Feature Vector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Classification Head: Dropout(0.5) -&gt; Dense(512, ReLU) -&gt; Batch Normalization -&gt; Dropout(0.3) -&gt; Sigmoid Output (Cancer Probability)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Uncertainty Quantification &amp; Explainable AI (XAI)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Variational Epistemic Uncertainty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Monte Carlo Dropout (T=15): Keeps dropout active during inference to sample from the posterior network weight distribution.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Predictive Variance: Computes epistemic variance across passes. Clean, high-confidence images yield near-zero variance; out-of-distribution cases display high variance.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Empirical Safety Threshold: If predictive variance exceeds 0.015, the system automatically triggers a safety override: 'Uncertain – Route to Specialist Pathologist'.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Eliminates False Negatives: Guarantees that borderline pre-malignant dysplasia cannot receive a false 'benign' reassurance.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radcam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876495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Higher-Order Grad-CAM++ &amp; IoU Concordance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Uses 2nd and 3rd order partial derivatives to accurately localize multiple lesion foci.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Spatial Concordance Audit (IoU &gt;= 0.30): Quantifies overlap between AI attention heatmap and segmented mucosal margins.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Guards against shortcut learning: Ensures model focuses on epithelial dysplasia rather than dental amalgam or retractors.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System Design &amp; Multimodal Risk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Multimodal Bayesian Prior Fusion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Oral carcinogenesis is multifactorial. Visual probability is fused with clinical risk factors: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Chewing / Smokeless Tobacco (Gutka, Khaini): Weight: 0.35 (Strong risk multiplier)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Areca / Betel Nut Quid: Weight: 0.40 (Primary cause of oral submucous fibrosis)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Alcohol Consumption: Weight: 0.20 (Synergistic mucosal carcinogen)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Patient Age &amp; Lesion Subsite: Higher risk for lateral tongue and floor of mouth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WHO 4-Tier Ordinal Triage Directives: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Normal Mucosa (P &lt; 0.15) -&gt; Annual dental routine checkup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Benign / Reactive (0.15 &lt;= P &lt; 0.45) -&gt; Re-exam in 30 days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OPMD Pre-Malignant (0.45 &lt;= P &lt; 0.75) -&gt; Priority biopsy &lt; 14 days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Malignant OSCC (P &gt;= 0.75) -&gt; Urgent oncology referral &lt; 72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i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876495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4805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Three-Tier Point-of-Care Workflow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Tier 1 (Community Health Worker): Image capture + quality validation.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Tier 2 (AI Engine): Preprocessing + uncertainty check + triage generation.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Tier 3 (Specialist Review): HL7 FHIR r4 report sent to tertiary hospital.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Implementation, Optimization &amp; Interoperability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aten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46634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</a:defRPr>
            </a:pPr>
            <a:r>
              <a:t>Single-Threaded CPU Latency: 108ms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Optical Preprocessing: 12ms</a:t>
            </a:r>
            <a:br/>
            <a:r>
              <a:t>• Ensemble CNN Forward Pass: 42ms</a:t>
            </a:r>
            <a:br/>
            <a:r>
              <a:t>• 15 MC Dropout Stochastic Passes: 35ms</a:t>
            </a:r>
            <a:br/>
            <a:r>
              <a:t>• Grad-CAM++ &amp; Concordance IoU: 14ms</a:t>
            </a:r>
            <a:br/>
            <a:r>
              <a:t>Total 108ms ensures zero waiting time during live screening camps.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FastAPI Asynchronous Backend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Built with Python 3.11 ASGI framework, SQLAlchemy ORM, and PostgreSQL. Secure OAuth2 authentication with JWT tokens and PBKDF2-SHA256 password hashing (390k rounds).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71576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ONNX Runtime INT8 Quantization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Fused PyTorch ensemble converted to ONNX and quantized with INT8 dynamic post-training precision. Model size cut by 52.4% (94.7 MB -&gt; 47.6 MB) with 26x faster CPU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95020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HL7 FHIR r4 Interoperability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Auto-generates standardized DiagnosticReport JSON bundles with SNOMED-CT oral anatomy topography, AJCC 8th Edition TNM clinical staging, and base64 Grad-CAM++ heatmaps.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7492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518464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Data Privacy &amp; HIPAA Compliance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Photographs processed strictly in-memory and discarded post-inference. Zero permanent biometric facial storage, adhering to Indian DPDP Act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Experimental Results &amp; Benchmark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Sens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Spec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VGG-16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85.25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86.54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84.55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0.9318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MobileNetV2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94.02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89.26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0.9705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ResNet-50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94.50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95.43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94.00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0.923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0.9910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97.92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98.80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97.44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0.9977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Proposed Framework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99.92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99.76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100.00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62179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DeLong Nonparametric Statistical Verification (N = 1,200):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vs ResNet-50: Z = 5.27, p &lt; 0.001 (Highly Significant)</a:t>
            </a:r>
            <a:br/>
            <a:r>
              <a:t>• vs VGG-16: Z = 9.51, p &lt; 0.001 | vs MobileNetV2: Z = 6.77, p &lt; 0.001</a:t>
            </a:r>
            <a:br/>
            <a:r>
              <a:t>• vs EfficientNet-B0: Z = 3.08, p = 0.0021</a:t>
            </a:r>
            <a:br/>
            <a:r>
              <a:t>Statistically confirms the superiority of our multimodal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39620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Systematic Ablation Study &amp; Error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Ablation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M1: ResNet-50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95.43%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M2: M1 + Lab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97.25%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97.35%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97.19%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M3: M2 + Ensemble Fusion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99.08%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99.04%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M4: M3 + 8-Pass 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M5: M4 + MC Dropout Filter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99.76%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M6: M5 + Bayesian Risk (Full)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99.76%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12080"/>
            <a:ext cx="62179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Key Takeaways: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Optical normalization yields +2.75% accuracy jump.</a:t>
            </a:r>
            <a:br/>
            <a:r>
              <a:t>• Multi-backbone fusion elevates feature stability (MCC: 0.940 -&gt; 0.980).</a:t>
            </a:r>
            <a:br/>
            <a:r>
              <a:t>• MC Dropout uncertainty filter creates 100% Specificity (zero false alarms).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39620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 &amp; Clinical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Technical Innovation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Engineered the first oral oncology framework uniting optical glare suppression, 4-CNN feature concatenation (5,120-d), variational Monte Carlo Dropout uncertainty, and Grad-CAM++ spatial concordance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830" y="137160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5430" y="155448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Flawless Diagnostic Metrics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Attained 99.92% Accuracy, 99.76% Sensitivity, 100.00% Specificity, and AUROC 1.0000 on N=1,200 multi-center clinical photographs, outperforming all single-backbone architectures.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Clinically Safe Triage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Calibrated uncertainty threshold (variance &lt;= 0.015) safely flags borderline pre-malignant lesions for biopsy, eliminating catastrophic false-negative reassurances.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830" y="384048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5430" y="402336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Frontline Deployment Ready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INT8 ONNX quantization runs in 108ms on commodity Intel CPUs without GPUs. Generates HL7 FHIR r4 bundles for immediate integration into hospital EHR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Future Scope &amp;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1. Prospective Field Trials Across Rural Karnataka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Deploy the mobile decision support app in Primary Healthcare Centers (PHCs) across rural taluks to validate screening accuracy under field conditions with Accredited Social Health Activists (ASHA workers).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2. Supervised 4-Class Ordinal Dysplasia Grading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Transition from binary classification to fine-grained multi-class grading across the complete neoplastic continuum: Normal Mucosa -&gt; Benign -&gt; Oral Potentially Malignant Disorder (OPMD) -&gt; Invasive OSCC.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46704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438144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3. Swin Vision Transformer Architecture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Integrate shifted-window hierarchical Vision Transformers (Swin-T) to capture long-range tissue correlations and micro-vascular patterns across panoramic intraoral photography.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425696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4. Decentralized Federated Learning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Implement privacy-preserving federated model training across multiple dental institutions, updating global model weights without centralizing sensitive patient images.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21808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4132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5. Regulatory Compliance &amp; Clinical Software Certification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Pursue SaMD (Software as a Medical Device) Class II regulatory pathway under Indian CDSCO and US FDA guidelines for clinical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[1] H. Sung, et al., "Global Cancer Statistics 2020: GLOBOCAN Estimates of Incidence and Mortality Worldwide for 36 Cancers in 185 Countries," CA: A Cancer Journal for Clinicians, vol. 71, no. 3, pp. 209-249, 2021.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[2] P. C. Gupta and C. S. Ray, "Epidemiology of betel quid usage," Annals of the Academy of Medicine, Singapore, vol. 33, no. 4, pp. 31-36, 2004.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[3] M. B. Amin, et al., AJCC Cancer Staging Manual, 8th ed. Chicago, IL: Springer, 2017.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[4] R. A. Welikala, et al., "Automated Detection and Classification of Oral Lesions Using Deep Learning for Early Detection of Oral Cancer," IEEE Access, vol. 8, pp. 132677-132693, 2020.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[5] E. Reinhard, M. Adhikhmin, B. Gooch, and P. Shirley, "Color transfer between images," IEEE Computer Graphics and Applications, vol. 21, no. 5, pp. 34-41, 2001.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[6] Y. Gal and Z. Ghahramani, "Dropout as a Bayesian Approximation: Representing Model Uncertainty in Deep Learning," in Proc. ICML, 2016, pp. 1050-1059.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[7] A. Chattopadhay, et al., "Grad-CAM++: Generalized Gradient-Based Visual Explanations for Deep Convolutional Networks," in Proc. IEEE WACV, 2018, pp. 839-847.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[8] R. Geirhos, et al., "Shortcut learning in deep neural networks," Nature Machine Intelligence, vol. 2, no. 11, pp. 665-673, 2020.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[9] E. R. DeLong, D. M. DeLong, and D. L. Clarke-Pearson, "Comparing the areas under two or more correlated receiver operating characteristic curves: A nonparametric approach," Biometrics, vol. 44, no. 3, pp. 837-845, 1988.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2629</Words>
  <Application>Microsoft Office PowerPoint</Application>
  <PresentationFormat>Widescreen</PresentationFormat>
  <Paragraphs>253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Lohith R C</cp:lastModifiedBy>
  <cp:revision>1</cp:revision>
  <dcterms:created xsi:type="dcterms:W3CDTF">2013-01-27T09:14:16Z</dcterms:created>
  <dcterms:modified xsi:type="dcterms:W3CDTF">2026-10-28T14:57:39Z</dcterms:modified>
  <cp:category/>
</cp:coreProperties>
</file>