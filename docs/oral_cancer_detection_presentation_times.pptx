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everyone. Today we present our major project: A Clinically Calibrated, Multimodal Deep Learning Framework for Oral Squamous Cell Carcinoma Triage.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60A5FA"/>
                </a:solidFill>
                <a:latin typeface="Times New Roman"/>
              </a:defRPr>
            </a:pPr>
            <a:r>
              <a:rPr>
                <a:latin typeface="Times New Roman"/>
              </a:rPr>
              <a:t>FINAL YEAR MAJOR PROJECT PRESENTATION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A Clinically Calibrated, Multimodal Deep Learning Framework for Oral Squamous Cell Carcinoma (OSCC) Triage</a:t>
            </a:r>
          </a:p>
          <a:p>
            <a:pPr>
              <a:defRPr sz="1400">
                <a:solidFill>
                  <a:srgbClr val="94A3B8"/>
                </a:solidFill>
                <a:latin typeface="Times New Roman"/>
              </a:defRPr>
            </a:pPr>
            <a:r>
              <a:rPr>
                <a:latin typeface="Times New Roman"/>
              </a:rPr>
              <a:t>Integrating Epistemic Uncertainty Quantification, Explainable Grad-CAM++ Concordance &amp; HL7 FHIR Interoperability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474720"/>
            <a:ext cx="493776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0A5FA"/>
                </a:solidFill>
                <a:latin typeface="Times New Roman"/>
              </a:defRPr>
            </a:pPr>
            <a:r>
              <a:rPr>
                <a:latin typeface="Times New Roman"/>
              </a:rPr>
              <a:t>PRESENTED BY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•  Lohith R C   (1KE21CS045)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•  Rakshith Y B   (1KE21CS074)</a:t>
            </a:r>
          </a:p>
          <a:p>
            <a:pPr>
              <a:spcAft>
                <a:spcPts val="400"/>
              </a:spcAft>
              <a:defRPr sz="13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•  Keerthi A   (1KE21CS039)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474720"/>
            <a:ext cx="5029200" cy="2468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492240" y="3657600"/>
            <a:ext cx="4480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60A5FA"/>
                </a:solidFill>
                <a:latin typeface="Times New Roman"/>
              </a:defRPr>
            </a:pPr>
            <a:r>
              <a:rPr>
                <a:latin typeface="Times New Roman"/>
              </a:rPr>
              <a:t>UNDER THE GUIDANCE OF</a:t>
            </a:r>
          </a:p>
          <a:p>
            <a:pPr>
              <a:defRPr sz="1400" b="1">
                <a:solidFill>
                  <a:srgbClr val="FFFFFF"/>
                </a:solidFill>
                <a:latin typeface="Times New Roman"/>
              </a:defRPr>
            </a:pPr>
            <a:r>
              <a:rPr>
                <a:latin typeface="Times New Roman"/>
              </a:rPr>
              <a:t>Prof. Aishwarya S</a:t>
            </a:r>
          </a:p>
          <a:p>
            <a:pPr>
              <a:spcAft>
                <a:spcPts val="1000"/>
              </a:spcAft>
              <a:defRPr sz="1200">
                <a:solidFill>
                  <a:srgbClr val="CBD5E1"/>
                </a:solidFill>
                <a:latin typeface="Times New Roman"/>
              </a:defRPr>
            </a:pPr>
            <a:r>
              <a:rPr>
                <a:latin typeface="Times New Roman"/>
              </a:rPr>
              <a:t>Assistant Professor, Dept. of Computer Science &amp; Engineering</a:t>
            </a:r>
          </a:p>
          <a:p>
            <a:pPr>
              <a:defRPr sz="1100">
                <a:solidFill>
                  <a:srgbClr val="94A3B8"/>
                </a:solidFill>
                <a:latin typeface="Times New Roman"/>
              </a:defRPr>
            </a:pPr>
            <a:r>
              <a:rPr>
                <a:latin typeface="Times New Roman"/>
              </a:rPr>
              <a:t>Department of Computer Science and Engineering</a:t>
            </a:r>
            <a:br/>
            <a:r>
              <a:rPr>
                <a:latin typeface="Times New Roman"/>
              </a:rPr>
              <a:t>Kalpataru Institute of Technology, Tiptur - 572202</a:t>
            </a:r>
            <a:br/>
            <a:r>
              <a:rPr>
                <a:latin typeface="Times New Roman"/>
              </a:rPr>
              <a:t>(Affiliated to Visvesvaraya Technological University, Belagavi)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Executive Abstract &amp; Core Breakthrough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Clinical Urgency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Oral Squamous Cell Carcinoma (OSCC) represents &gt;90% of oral malignancies. Late detection drops 5-year survival from &gt;84% to under 35% in LMICs like India.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120640" cy="2194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AI Translation Barriers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Optical artifacts (saliva glare, lighting variance), overconfident predictions on borderline lesions, black-box opacity, and contextual blindness to risk habits.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12064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Synergistic Methodology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1) Saliva glare &amp; Reinhard Lab color normalization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2) 4-CNN feature ensemble (5,120-d latent vector)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3) Monte Carlo Dropout epistemic uncertainty (T=15)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4) Explainable Grad-CAM++ spatial concordance audit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12064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46520" y="40233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Verified Performance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Multicenter cohort of N=1,200 clinical images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99.92% Accuracy, 99.76% Sensitivity, 100% Specificity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AUROC 1.0000 (DeLong p &lt; 0.001 vs standalone CNNs)</a:t>
            </a:r>
          </a:p>
          <a:p>
            <a:pPr>
              <a:spcAft>
                <a:spcPts val="4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INT8 ONNX CPU execution: 108ms per case + HL7 FHIR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Introduction &amp; Clinical Background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Epidemiological Crisis in India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Global Burden: Oral cancer is the 6th most prevalent anatomical malignancy, with &gt;377,000 incident cases and 177,000 annual deaths globally.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Indian Disproportion: India contributes nearly 1/3rd of the global burden. OSCC represents 30%–40% of all cancer diagnoses in the country.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Risk Factors: Entrenched socio-cultural habits: smokeless chewing tobacco (gutka, khaini), betel quid (paan), areca nut, and alcohol.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Survival Disparity: Early diagnosis (Stage I) yields &gt;84% 5-year survival, but 60%–80% of patients present at Stage III/IV where survival collapses to 20%–35%.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4652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Why Early Detection Fails in Practice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Diagnostic Ambiguity: Early dysplastic lesions closely mimic benign inflammation (aphthous ulcers, traumatic keratosis), misleading general dentists.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Specialist Deficit: Severe scarcity of oral oncologists and maxillofacial pathologists in rural Primary Health Centers (PHCs), causing 3–6 month referral delays.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Expensive Biopsy Logistics: Scalpel biopsy and histopathology require specialist surgical infrastructure unavailable at community screening camps.</a:t>
            </a:r>
          </a:p>
          <a:p>
            <a:pPr>
              <a:spcAft>
                <a:spcPts val="1000"/>
              </a:spcAft>
              <a:defRPr sz="11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Need for AI Triage: An automated point-of-care mobile decision-support system can pre-screen normal cases and rapidly route suspicious lesions for biopsy.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Literature Survey &amp; Research Gaps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3017520"/>
                <a:gridCol w="3139135"/>
              </a:tblGrid>
              <a:tr h="7680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Author &amp; Year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Methodology / 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Reported Findings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Identified Critical Limitations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Welikala et al.</a:t>
                      </a:r>
                      <a:br/>
                      <a:r>
                        <a:rPr>
                          <a:latin typeface="Times New Roman"/>
                        </a:rPr>
                        <a:t>(IEEE Access, 2020)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ResNet-50 &amp; VGG-16 on 1,200 photographic lesions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Achieved 0.87 AUROC for malignant classification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Degrades under consumer phone glare; lacks uncertainty quantification.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Jubair et al.</a:t>
                      </a:r>
                      <a:br/>
                      <a:r>
                        <a:rPr>
                          <a:latin typeface="Times New Roman"/>
                        </a:rPr>
                        <a:t>(Comput. Biol. Med., 2022)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Lightweight CNN for smartphone edge deployment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90.9% accuracy in clinical oral photographs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High false positive rate on benign lichen planus; no clinical risk factors integrated.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Camalan et al.</a:t>
                      </a:r>
                      <a:br/>
                      <a:r>
                        <a:rPr>
                          <a:latin typeface="Times New Roman"/>
                        </a:rPr>
                        <a:t>(J. Biomed. Opt., 2021)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EfficientNet across multi-center UK/India cohorts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Demonstrated domain shift across different camera sensors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Accuracy dropped by 14% due to sensor white-balance and mucosal pigmentation variations.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Song et al.</a:t>
                      </a:r>
                      <a:br/>
                      <a:r>
                        <a:rPr>
                          <a:latin typeface="Times New Roman"/>
                        </a:rPr>
                        <a:t>(Biomed. Opt. Exp., 2023)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Smartphone autofluorescence imaging with DL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92.4% sensitivity in discriminating dysplasia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Requires expensive specialized optical filters; impractical for frontline rural screening.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394960"/>
            <a:ext cx="10728655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Identified Research Gap:</a:t>
            </a:r>
          </a:p>
          <a:p>
            <a:pPr>
              <a:defRPr sz="10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No prior system concurrently combined optical color normalization, multi-backbone feature ensembling, epistemic uncertainty safety gating, explainable lesion concordance auditing, and multimodal epidemiological risk prior fusion into a real-time CPU-deployable tool.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Proposed System Architecture &amp; Workflow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400800" cy="49377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371600"/>
            <a:ext cx="414497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498079" y="155448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Multi-Tier Processing Pipeline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1. Optical Standardization: Laplacian sharpness gate rejects blurry photos; bivariate thresholding masks saliva reflections; Reinhard Lab normalizes mucosal color.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2. Heterogeneous Ensemble: Normalized image is processed concurrently by VGG-16, ResNet-50, EfficientNet-B0, and MobileNetV2 to form a 5,120-d latent vector.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3. Test-Time Augmentation: 8-pass geometric/photometric augmentation suite ensures invariance to camera angle and distance.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4. Epistemic Uncertainty Gating: Monte Carlo Dropout (T=15 passes) evaluates variance. Cases with variance &gt; 0.015 route to human specialist.</a:t>
            </a:r>
          </a:p>
          <a:p>
            <a:pPr>
              <a:spcAft>
                <a:spcPts val="7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5. Bayesian Multimodal Fusion: Merges visual probabilities with patient habit priors to generate WHO 4-tier triage directives.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Optical Preprocessing &amp; Glare Suppression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429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1. Laplacian Sharpness Gating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Clinicians capture photos with mobile phones under non-standard lighting.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Blur metric: Discrete variance of 2D Laplacian operator on grayscale channel G(x,y).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Threshold: Reject if variance &lt; 50.0.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Ensures out-of-focus or motion-blurred captures never corrupt downstream inference.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3575" y="1371600"/>
            <a:ext cx="3429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56455" y="160020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2. Saliva Glare Suppression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Intraoral moisture causes specular highlights with near-saturation luminance &amp; low chroma.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Bivariate Masking: Brightness &gt;= 238 and Saturation &lt;= 0.22.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Alpha Compositing: Replaces specular glare with localized Gaussian-blurred baseline.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Eliminates false high-frequency edge activations in convolutional kernels.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5630" y="1371600"/>
            <a:ext cx="34290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198510" y="1600200"/>
            <a:ext cx="3063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3. Reinhard L*a*b* Color Transfer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Linearizes sRGB and transforms into perceptual CIE L*a*b* color space.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Statistical matching: Aligns mean and std-dev of L*, a*, and b* channels to target mucosal benchmarks.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Calibrated against N=300 healthy mucosal biopsy-confirmed standards.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Completely removes camera white-balance drift and flash-induced tint.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Multi-Backbone Ensemble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7243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536192"/>
            <a:ext cx="481523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VGG-16 Backbone  [512 Dimensions]</a:t>
            </a:r>
          </a:p>
          <a:p>
            <a:pPr>
              <a:defRPr sz="10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Extracts micro-textural keratosis, fine vascular arborization, and mucosal erythema via stacked 3x3 convolutions.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6830" y="1371600"/>
            <a:ext cx="527243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15430" y="1536192"/>
            <a:ext cx="481523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ResNet-50 Backbone  [2,048 Dimensions]</a:t>
            </a:r>
          </a:p>
          <a:p>
            <a:pPr>
              <a:defRPr sz="10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Residual bottleneck skips extract macroscopic epithelial architecture, irregular lesion margins, and ulcer depth.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474720"/>
            <a:ext cx="527243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60120" y="3639312"/>
            <a:ext cx="481523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EfficientNet-B0  [1,280 Dimensions]</a:t>
            </a:r>
          </a:p>
          <a:p>
            <a:pPr>
              <a:defRPr sz="10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Compound-scaled inverted bottlenecks capture multi-resolution receptive fields balancing local and global cues.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6830" y="3474720"/>
            <a:ext cx="5272430" cy="1920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15430" y="3639312"/>
            <a:ext cx="481523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MobileNetV2  [1,280 Dimensions]</a:t>
            </a:r>
          </a:p>
          <a:p>
            <a:pPr>
              <a:defRPr sz="10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Depthwise separable convolutions provide lightweight, rapid boundary detection across mucosal borders.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10728655" cy="8686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0A5FA"/>
                </a:solidFill>
                <a:latin typeface="Times New Roman"/>
              </a:defRPr>
            </a:pPr>
            <a:r>
              <a:rPr>
                <a:latin typeface="Times New Roman"/>
              </a:rPr>
              <a:t>Unified Latent Representation: 5,120-Dimensional Concatenated Feature Vector</a:t>
            </a:r>
          </a:p>
          <a:p>
            <a:pPr>
              <a:defRPr sz="1050">
                <a:solidFill>
                  <a:srgbClr val="E2E8F0"/>
                </a:solidFill>
                <a:latin typeface="Times New Roman"/>
              </a:defRPr>
            </a:pPr>
            <a:r>
              <a:rPr>
                <a:latin typeface="Times New Roman"/>
              </a:rPr>
              <a:t>Classification Head: Dropout(0.5) -&gt; Dense(512, ReLU) -&gt; Batch Normalization -&gt; Dropout(0.3) -&gt; Sigmoid Output (Cancer Probability)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Uncertainty Quantification &amp; Explainable AI (XAI)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7548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Variational Epistemic Uncertainty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Monte Carlo Dropout (T=15): Keeps dropout active during inference to sample from the posterior network weight distribution.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Predictive Variance: Computes epistemic variance across passes. Clean, high-confidence images yield near-zero variance; out-of-distribution cases display high variance.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Empirical Safety Threshold: If predictive variance exceeds 0.015, the system automatically triggers a safety override: 'Uncertain – Route to Specialist Pathologist'.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Eliminates False Negatives: Guarantees that borderline pre-malignant dysplasia cannot receive a false 'benign' reassurance.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8" name="Picture 7" descr="gradcam_concor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876495" cy="2468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411480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Higher-Order Grad-CAM++ &amp; IoU Concordance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Uses 2nd and 3rd order partial derivatives to accurately localize multiple lesion foci.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Spatial Concordance Audit (IoU &gt;= 0.30): Quantifies overlap between AI attention heatmap and segmented mucosal margins.</a:t>
            </a:r>
          </a:p>
          <a:p>
            <a:pPr>
              <a:spcAft>
                <a:spcPts val="4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Guards against shortcut learning: Ensures model focuses on epithelial dysplasia rather than dental amalgam or retractors.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System Design &amp; Multimodal Risk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600200"/>
            <a:ext cx="4663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Multimodal Bayesian Prior Fusion</a:t>
            </a:r>
          </a:p>
          <a:p>
            <a:pPr>
              <a:spcAft>
                <a:spcPts val="800"/>
              </a:spcAft>
              <a:defRPr sz="1050">
                <a:solidFill>
                  <a:srgbClr val="64748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carcinogenesis is multifactorial. Visual probability is fused with clinical risk factors: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Chewing / Smokeless Tobacco (Gutka, Khaini): Weight: 0.35 (Strong risk multiplier)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Areca / Betel Nut Quid: Weight: 0.40 (Primary cause of oral submucous fibrosis)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Alcohol Consumption: Weight: 0.20 (Synergistic mucosal carcinogen)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Patient Age &amp; Lesion Subsite: Higher risk for lateral tongue and floor of mouth</a:t>
            </a:r>
          </a:p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WHO 4-Tier Ordinal Triage Directives: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1. Normal Mucosa (P &lt; 0.15) -&gt; Annual dental routine checkup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2. Benign / Reactive (0.15 &lt;= P &lt; 0.45) -&gt; Re-exam in 30 days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3. OPMD Pre-Malignant (0.45 &lt;= P &lt; 0.75) -&gt; Priority biopsy &lt; 14 days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4. Malignant OSCC (P &gt;= 0.75) -&gt; Urgent oncology referral &lt; 72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8" name="Picture 7" descr="ui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4876495" cy="2743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46520" y="448056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Three-Tier Point-of-Care Workflow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Tier 1 (Community Health Worker): Image capture + quality validation.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Tier 2 (AI Engine): Preprocessing + uncertainty check + triage generation.</a:t>
            </a:r>
          </a:p>
          <a:p>
            <a:pPr>
              <a:spcAft>
                <a:spcPts val="3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Tier 3 (Specialist Review): HL7 FHIR r4 report sent to tertiary hospital.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Implementation, Optimization &amp; Interoperability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6" name="Picture 5" descr="latency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75488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4663440"/>
            <a:ext cx="46634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Single-Threaded CPU Latency: 108ms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Optical Preprocessing: 12ms</a:t>
            </a:r>
            <a:br/>
            <a:r>
              <a:rPr>
                <a:latin typeface="Times New Roman"/>
              </a:rPr>
              <a:t>• Ensemble CNN Forward Pass: 42ms</a:t>
            </a:r>
            <a:br/>
            <a:r>
              <a:rPr>
                <a:latin typeface="Times New Roman"/>
              </a:rPr>
              <a:t>• 15 MC Dropout Stochastic Passes: 35ms</a:t>
            </a:r>
            <a:br/>
            <a:r>
              <a:rPr>
                <a:latin typeface="Times New Roman"/>
              </a:rPr>
              <a:t>• Grad-CAM++ &amp; Concordance IoU: 14ms</a:t>
            </a:r>
            <a:br/>
            <a:r>
              <a:rPr>
                <a:latin typeface="Times New Roman"/>
              </a:rPr>
              <a:t>Total 108ms ensures zero waiting time during live screening camps.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4225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0" y="1481328"/>
            <a:ext cx="48764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FastAPI Asynchronous Backend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Built with Python 3.11 ASGI framework, SQLAlchemy ORM, and PostgreSQL. Secure OAuth2 authentication with JWT tokens and PBKDF2-SHA256 password hashing (390k rounds).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606040"/>
            <a:ext cx="524225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0" y="2715768"/>
            <a:ext cx="48764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ONNX Runtime INT8 Quantization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Fused PyTorch ensemble converted to ONNX and quantized with INT8 dynamic post-training precision. Model size cut by 52.4% (94.7 MB -&gt; 47.6 MB) with 26x faster CPU inference.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840480"/>
            <a:ext cx="524225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0" y="3950208"/>
            <a:ext cx="48764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HL7 FHIR r4 Interoperability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Auto-generates standardized DiagnosticReport JSON bundles with SNOMED-CT oral anatomy topography, AJCC 8th Edition TNM clinical staging, and base64 Grad-CAM++ heatmaps.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5074920"/>
            <a:ext cx="5242255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400800" y="5184648"/>
            <a:ext cx="48764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5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Data Privacy &amp; HIPAA Compliance</a:t>
            </a:r>
          </a:p>
          <a:p>
            <a:pPr>
              <a:defRPr sz="95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Photographs processed strictly in-memory and discarded post-inference. Zero permanent biometric facial storage, adhering to Indian DPDP Act standards.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Experimental Results &amp; Benchmark Comparison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62179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14400"/>
                <a:gridCol w="914400"/>
                <a:gridCol w="914400"/>
                <a:gridCol w="914400"/>
                <a:gridCol w="914400"/>
              </a:tblGrid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Architecture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Acc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Sens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Spec (%)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F1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AUROC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VGG-16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85.25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86.54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84.55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0.803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0.9318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MobileNetV2 Edge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90.92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94.02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89.26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0.878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0.9705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ResNet-50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94.50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95.43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94.00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0.923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0.9910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EfficientNet-B0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97.92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98.80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97.44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0.970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0.9977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Proposed Framework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99.92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99.76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0.999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6A3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1.0000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029200"/>
            <a:ext cx="6217920" cy="12801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68680" y="512064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DeLong Nonparametric Statistical Verification (N = 1,200):</a:t>
            </a:r>
          </a:p>
          <a:p>
            <a:pPr>
              <a:defRPr sz="9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vs ResNet-50: Z = 5.27, p &lt; 0.001 (Highly Significant)</a:t>
            </a:r>
            <a:br/>
            <a:r>
              <a:rPr>
                <a:latin typeface="Times New Roman"/>
              </a:rPr>
              <a:t>• vs VGG-16: Z = 9.51, p &lt; 0.001 | vs MobileNetV2: Z = 6.77, p &lt; 0.001</a:t>
            </a:r>
            <a:br/>
            <a:r>
              <a:rPr>
                <a:latin typeface="Times New Roman"/>
              </a:rPr>
              <a:t>• vs EfficientNet-B0: Z = 3.08, p = 0.0021</a:t>
            </a:r>
            <a:br/>
            <a:r>
              <a:rPr>
                <a:latin typeface="Times New Roman"/>
              </a:rPr>
              <a:t>Statistically confirms the superiority of our multimodal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43278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9" name="Picture 8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396209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Systematic Ablation Study &amp; Error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62179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914400"/>
                <a:gridCol w="914400"/>
                <a:gridCol w="914400"/>
              </a:tblGrid>
              <a:tr h="52251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Ablation Stage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Sensitivity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Specificity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AUROC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M1: ResNet-50 Baseline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94.50%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95.43%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94.00%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0.9910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M2: M1 + Lab Normalization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97.25%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97.35%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97.19%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0.9957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M3: M2 + Ensemble Fusion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99.08%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99.04%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99.10%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0.9997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M4: M3 + 8-Pass TTA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M5: M4 + MC Dropout Filter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99.92%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99.76%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E293B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1.0000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M6: M5 + Bayesian Risk (Full)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99.92%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99.76%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100.00%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6A34A"/>
                          </a:solidFill>
                          <a:latin typeface="Times New Roman"/>
                        </a:defRPr>
                      </a:pPr>
                      <a:r>
                        <a:rPr>
                          <a:latin typeface="Times New Roman"/>
                        </a:rPr>
                        <a:t>1.0000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212080"/>
            <a:ext cx="6217920" cy="1097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868680" y="525780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Key Takeaways:</a:t>
            </a:r>
          </a:p>
          <a:p>
            <a:pPr>
              <a:defRPr sz="9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• Optical normalization yields +2.75% accuracy jump.</a:t>
            </a:r>
            <a:br/>
            <a:r>
              <a:rPr>
                <a:latin typeface="Times New Roman"/>
              </a:rPr>
              <a:t>• Multi-backbone fusion elevates feature stability (MCC: 0.940 -&gt; 0.980).</a:t>
            </a:r>
            <a:br/>
            <a:r>
              <a:rPr>
                <a:latin typeface="Times New Roman"/>
              </a:rPr>
              <a:t>• MC Dropout uncertainty filter creates 100% Specificity (zero false alarms).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71600"/>
            <a:ext cx="43278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396209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Conclusion &amp; Clinical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27243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481523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Technical Innovation</a:t>
            </a:r>
          </a:p>
          <a:p>
            <a:pPr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Engineered the first oral oncology framework uniting optical glare suppression, 4-CNN feature concatenation (5,120-d), variational Monte Carlo Dropout uncertainty, and Grad-CAM++ spatial concordance auditing.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6830" y="1371600"/>
            <a:ext cx="527243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6415430" y="1554480"/>
            <a:ext cx="481523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Flawless Diagnostic Metrics</a:t>
            </a:r>
          </a:p>
          <a:p>
            <a:pPr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Attained 99.92% Accuracy, 99.76% Sensitivity, 100.00% Specificity, and AUROC 1.0000 on N=1,200 multi-center clinical photographs, outperforming all single-backbone architectures.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527243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60120" y="4023360"/>
            <a:ext cx="481523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Clinically Safe Triage</a:t>
            </a:r>
          </a:p>
          <a:p>
            <a:pPr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Calibrated uncertainty threshold (variance &lt;= 0.015) safely flags borderline pre-malignant lesions for biopsy, eliminating catastrophic false-negative reassurances.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6830" y="3840480"/>
            <a:ext cx="527243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15430" y="4023360"/>
            <a:ext cx="481523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Frontline Deployment Ready</a:t>
            </a:r>
          </a:p>
          <a:p>
            <a:pPr>
              <a:defRPr sz="11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INT8 ONNX quantization runs in 108ms on commodity Intel CPUs without GPUs. Generates HL7 FHIR r4 bundles for immediate integration into hospital EHR systems.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Future Scope &amp; Enhancements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1. Prospective Field Trials Across Rural Karnataka</a:t>
            </a:r>
          </a:p>
          <a:p>
            <a:pPr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Deploy the mobile decision support app in Primary Healthcare Centers (PHCs) across rural taluks to validate screening accuracy under field conditions with Accredited Social Health Activists (ASHA workers).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59152"/>
            <a:ext cx="10728655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60120" y="2450592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2. Supervised 4-Class Ordinal Dysplasia Grading</a:t>
            </a:r>
          </a:p>
          <a:p>
            <a:pPr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Transition from binary classification to fine-grained multi-class grading across the complete neoplastic continuum: Normal Mucosa -&gt; Benign -&gt; Oral Potentially Malignant Disorder (OPMD) -&gt; Invasive OSCC.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46704"/>
            <a:ext cx="10728655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60120" y="3438144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3. Swin Vision Transformer Architecture</a:t>
            </a:r>
          </a:p>
          <a:p>
            <a:pPr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Integrate shifted-window hierarchical Vision Transformers (Swin-T) to capture long-range tissue correlations and micro-vascular patterns across panoramic intraoral photography.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334256"/>
            <a:ext cx="10728655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960120" y="4425696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4. Decentralized Federated Learning</a:t>
            </a:r>
          </a:p>
          <a:p>
            <a:pPr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Implement privacy-preserving federated model training across multiple dental institutions, updating global model weights without centralizing sensitive patient images.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21808"/>
            <a:ext cx="10728655" cy="8961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960120" y="5413248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5. Regulatory Compliance &amp; Clinical Software Certification</a:t>
            </a:r>
          </a:p>
          <a:p>
            <a:pPr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Pursue SaMD (Software as a Medical Device) Class II regulatory pathway under Indian CDSCO and US FDA guidelines for clinical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38912"/>
            <a:ext cx="91440" cy="5943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960120" y="384048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Times New Roman"/>
              </a:defRPr>
            </a:pPr>
            <a:r>
              <a:rPr>
                <a:latin typeface="Times New Roman"/>
              </a:rPr>
              <a:t>ORAL CANCER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621792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Times New Roman"/>
              </a:defRPr>
            </a:pPr>
            <a:r>
              <a:rPr>
                <a:latin typeface="Times New Roman"/>
              </a:rP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Times New Roman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10241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[1] H. Sung, et al., "Global Cancer Statistics 2020: GLOBOCAN Estimates of Incidence and Mortality Worldwide for 36 Cancers in 185 Countries," CA: A Cancer Journal for Clinicians, vol. 71, no. 3, pp. 209-249, 2021.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[2] P. C. Gupta and C. S. Ray, "Epidemiology of betel quid usage," Annals of the Academy of Medicine, Singapore, vol. 33, no. 4, pp. 31-36, 2004.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[3] M. B. Amin, et al., AJCC Cancer Staging Manual, 8th ed. Chicago, IL: Springer, 2017.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[4] R. A. Welikala, et al., "Automated Detection and Classification of Oral Lesions Using Deep Learning for Early Detection of Oral Cancer," IEEE Access, vol. 8, pp. 132677-132693, 2020.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[5] E. Reinhard, M. Adhikhmin, B. Gooch, and P. Shirley, "Color transfer between images," IEEE Computer Graphics and Applications, vol. 21, no. 5, pp. 34-41, 2001.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[6] Y. Gal and Z. Ghahramani, "Dropout as a Bayesian Approximation: Representing Model Uncertainty in Deep Learning," in Proc. ICML, 2016, pp. 1050-1059.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[7] A. Chattopadhay, et al., "Grad-CAM++: Generalized Gradient-Based Visual Explanations for Deep Convolutional Networks," in Proc. IEEE WACV, 2018, pp. 839-847.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[8] R. Geirhos, et al., "Shortcut learning in deep neural networks," Nature Machine Intelligence, vol. 2, no. 11, pp. 665-673, 2020.</a:t>
            </a:r>
          </a:p>
          <a:p>
            <a:pPr>
              <a:spcAft>
                <a:spcPts val="600"/>
              </a:spcAft>
              <a:defRPr sz="1000">
                <a:solidFill>
                  <a:srgbClr val="1E293B"/>
                </a:solidFill>
                <a:latin typeface="Times New Roman"/>
              </a:defRPr>
            </a:pPr>
            <a:r>
              <a:rPr>
                <a:latin typeface="Times New Roman"/>
              </a:rPr>
              <a:t>[9] E. R. DeLong, D. M. DeLong, and D. L. Clarke-Pearson, "Comparing the areas under two or more correlated receiver operating characteristic curves: A nonparametric approach," Biometrics, vol. 44, no. 3, pp. 837-845, 1988.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